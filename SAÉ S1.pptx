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0" r:id="rId12"/>
    <p:sldId id="266" r:id="rId13"/>
    <p:sldId id="267" r:id="rId14"/>
    <p:sldId id="268" r:id="rId15"/>
    <p:sldId id="269"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47" d="100"/>
          <a:sy n="47" d="100"/>
        </p:scale>
        <p:origin x="9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0ED65667-E91C-4654-89DC-4B55045E4285}" type="datetimeFigureOut">
              <a:rPr lang="fr-FR" smtClean="0"/>
              <a:t>08/11/2021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5191DED-3DFA-46FC-9CF0-1E3ED3A202EC}" type="slidenum">
              <a:rPr lang="fr-FR" smtClean="0"/>
              <a:t>‹N°›</a:t>
            </a:fld>
            <a:endParaRPr lang="fr-FR"/>
          </a:p>
        </p:txBody>
      </p:sp>
    </p:spTree>
    <p:extLst>
      <p:ext uri="{BB962C8B-B14F-4D97-AF65-F5344CB8AC3E}">
        <p14:creationId xmlns:p14="http://schemas.microsoft.com/office/powerpoint/2010/main" val="4244105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ED65667-E91C-4654-89DC-4B55045E4285}" type="datetimeFigureOut">
              <a:rPr lang="fr-FR" smtClean="0"/>
              <a:t>08/11/2021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5191DED-3DFA-46FC-9CF0-1E3ED3A202EC}" type="slidenum">
              <a:rPr lang="fr-FR" smtClean="0"/>
              <a:t>‹N°›</a:t>
            </a:fld>
            <a:endParaRPr lang="fr-FR"/>
          </a:p>
        </p:txBody>
      </p:sp>
    </p:spTree>
    <p:extLst>
      <p:ext uri="{BB962C8B-B14F-4D97-AF65-F5344CB8AC3E}">
        <p14:creationId xmlns:p14="http://schemas.microsoft.com/office/powerpoint/2010/main" val="243533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0ED65667-E91C-4654-89DC-4B55045E4285}" type="datetimeFigureOut">
              <a:rPr lang="fr-FR" smtClean="0"/>
              <a:t>08/11/2021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5191DED-3DFA-46FC-9CF0-1E3ED3A202EC}" type="slidenum">
              <a:rPr lang="fr-FR" smtClean="0"/>
              <a:t>‹N°›</a:t>
            </a:fld>
            <a:endParaRPr lang="fr-FR"/>
          </a:p>
        </p:txBody>
      </p:sp>
    </p:spTree>
    <p:extLst>
      <p:ext uri="{BB962C8B-B14F-4D97-AF65-F5344CB8AC3E}">
        <p14:creationId xmlns:p14="http://schemas.microsoft.com/office/powerpoint/2010/main" val="2303424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0ED65667-E91C-4654-89DC-4B55045E4285}" type="datetimeFigureOut">
              <a:rPr lang="fr-FR" smtClean="0"/>
              <a:t>08/11/2021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5191DED-3DFA-46FC-9CF0-1E3ED3A202EC}" type="slidenum">
              <a:rPr lang="fr-FR" smtClean="0"/>
              <a:t>‹N°›</a:t>
            </a:fld>
            <a:endParaRPr lang="fr-FR"/>
          </a:p>
        </p:txBody>
      </p:sp>
    </p:spTree>
    <p:extLst>
      <p:ext uri="{BB962C8B-B14F-4D97-AF65-F5344CB8AC3E}">
        <p14:creationId xmlns:p14="http://schemas.microsoft.com/office/powerpoint/2010/main" val="2699376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0ED65667-E91C-4654-89DC-4B55045E4285}" type="datetimeFigureOut">
              <a:rPr lang="fr-FR" smtClean="0"/>
              <a:t>08/11/2021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5191DED-3DFA-46FC-9CF0-1E3ED3A202EC}" type="slidenum">
              <a:rPr lang="fr-FR" smtClean="0"/>
              <a:t>‹N°›</a:t>
            </a:fld>
            <a:endParaRPr lang="fr-FR"/>
          </a:p>
        </p:txBody>
      </p:sp>
    </p:spTree>
    <p:extLst>
      <p:ext uri="{BB962C8B-B14F-4D97-AF65-F5344CB8AC3E}">
        <p14:creationId xmlns:p14="http://schemas.microsoft.com/office/powerpoint/2010/main" val="3529507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0ED65667-E91C-4654-89DC-4B55045E4285}" type="datetimeFigureOut">
              <a:rPr lang="fr-FR" smtClean="0"/>
              <a:t>08/11/2021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5191DED-3DFA-46FC-9CF0-1E3ED3A202EC}" type="slidenum">
              <a:rPr lang="fr-FR" smtClean="0"/>
              <a:t>‹N°›</a:t>
            </a:fld>
            <a:endParaRPr lang="fr-FR"/>
          </a:p>
        </p:txBody>
      </p:sp>
    </p:spTree>
    <p:extLst>
      <p:ext uri="{BB962C8B-B14F-4D97-AF65-F5344CB8AC3E}">
        <p14:creationId xmlns:p14="http://schemas.microsoft.com/office/powerpoint/2010/main" val="3529616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ED65667-E91C-4654-89DC-4B55045E4285}" type="datetimeFigureOut">
              <a:rPr lang="fr-FR" smtClean="0"/>
              <a:t>08/11/2021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5191DED-3DFA-46FC-9CF0-1E3ED3A202EC}" type="slidenum">
              <a:rPr lang="fr-FR" smtClean="0"/>
              <a:t>‹N°›</a:t>
            </a:fld>
            <a:endParaRPr lang="fr-FR"/>
          </a:p>
        </p:txBody>
      </p:sp>
    </p:spTree>
    <p:extLst>
      <p:ext uri="{BB962C8B-B14F-4D97-AF65-F5344CB8AC3E}">
        <p14:creationId xmlns:p14="http://schemas.microsoft.com/office/powerpoint/2010/main" val="2849885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0ED65667-E91C-4654-89DC-4B55045E4285}" type="datetimeFigureOut">
              <a:rPr lang="fr-FR" smtClean="0"/>
              <a:t>08/11/2021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5191DED-3DFA-46FC-9CF0-1E3ED3A202EC}" type="slidenum">
              <a:rPr lang="fr-FR" smtClean="0"/>
              <a:t>‹N°›</a:t>
            </a:fld>
            <a:endParaRPr lang="fr-FR"/>
          </a:p>
        </p:txBody>
      </p:sp>
    </p:spTree>
    <p:extLst>
      <p:ext uri="{BB962C8B-B14F-4D97-AF65-F5344CB8AC3E}">
        <p14:creationId xmlns:p14="http://schemas.microsoft.com/office/powerpoint/2010/main" val="20693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0ED65667-E91C-4654-89DC-4B55045E4285}" type="datetimeFigureOut">
              <a:rPr lang="fr-FR" smtClean="0"/>
              <a:t>08/11/2021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5191DED-3DFA-46FC-9CF0-1E3ED3A202EC}" type="slidenum">
              <a:rPr lang="fr-FR" smtClean="0"/>
              <a:t>‹N°›</a:t>
            </a:fld>
            <a:endParaRPr lang="fr-FR"/>
          </a:p>
        </p:txBody>
      </p:sp>
    </p:spTree>
    <p:extLst>
      <p:ext uri="{BB962C8B-B14F-4D97-AF65-F5344CB8AC3E}">
        <p14:creationId xmlns:p14="http://schemas.microsoft.com/office/powerpoint/2010/main" val="1015579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ED65667-E91C-4654-89DC-4B55045E4285}" type="datetimeFigureOut">
              <a:rPr lang="fr-FR" smtClean="0"/>
              <a:t>08/11/2021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5191DED-3DFA-46FC-9CF0-1E3ED3A202EC}" type="slidenum">
              <a:rPr lang="fr-FR" smtClean="0"/>
              <a:t>‹N°›</a:t>
            </a:fld>
            <a:endParaRPr lang="fr-FR"/>
          </a:p>
        </p:txBody>
      </p:sp>
    </p:spTree>
    <p:extLst>
      <p:ext uri="{BB962C8B-B14F-4D97-AF65-F5344CB8AC3E}">
        <p14:creationId xmlns:p14="http://schemas.microsoft.com/office/powerpoint/2010/main" val="3725041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ED65667-E91C-4654-89DC-4B55045E4285}" type="datetimeFigureOut">
              <a:rPr lang="fr-FR" smtClean="0"/>
              <a:t>08/11/2021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5191DED-3DFA-46FC-9CF0-1E3ED3A202EC}" type="slidenum">
              <a:rPr lang="fr-FR" smtClean="0"/>
              <a:t>‹N°›</a:t>
            </a:fld>
            <a:endParaRPr lang="fr-FR"/>
          </a:p>
        </p:txBody>
      </p:sp>
    </p:spTree>
    <p:extLst>
      <p:ext uri="{BB962C8B-B14F-4D97-AF65-F5344CB8AC3E}">
        <p14:creationId xmlns:p14="http://schemas.microsoft.com/office/powerpoint/2010/main" val="1434188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D65667-E91C-4654-89DC-4B55045E4285}" type="datetimeFigureOut">
              <a:rPr lang="fr-FR" smtClean="0"/>
              <a:t>08/11/2021</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191DED-3DFA-46FC-9CF0-1E3ED3A202EC}" type="slidenum">
              <a:rPr lang="fr-FR" smtClean="0"/>
              <a:t>‹N°›</a:t>
            </a:fld>
            <a:endParaRPr lang="fr-FR"/>
          </a:p>
        </p:txBody>
      </p:sp>
    </p:spTree>
    <p:extLst>
      <p:ext uri="{BB962C8B-B14F-4D97-AF65-F5344CB8AC3E}">
        <p14:creationId xmlns:p14="http://schemas.microsoft.com/office/powerpoint/2010/main" val="4132063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irene.fr/sirene/public/static/definitions#def5" TargetMode="External"/><Relationship Id="rId2" Type="http://schemas.openxmlformats.org/officeDocument/2006/relationships/hyperlink" Target="http://sirene.fr/sirene/public/static/definitions#def4"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14818" y="508214"/>
            <a:ext cx="9144000" cy="1238700"/>
          </a:xfrm>
        </p:spPr>
        <p:txBody>
          <a:bodyPr>
            <a:noAutofit/>
          </a:bodyPr>
          <a:lstStyle/>
          <a:p>
            <a:r>
              <a:rPr lang="fr-FR" sz="4000" dirty="0"/>
              <a:t>SAÉ S1.06 </a:t>
            </a:r>
            <a:r>
              <a:rPr lang="fr-FR" sz="3200" dirty="0"/>
              <a:t>Découverte de l'environnement économique</a:t>
            </a:r>
          </a:p>
        </p:txBody>
      </p:sp>
      <p:sp>
        <p:nvSpPr>
          <p:cNvPr id="3" name="Sous-titre 2"/>
          <p:cNvSpPr>
            <a:spLocks noGrp="1"/>
          </p:cNvSpPr>
          <p:nvPr>
            <p:ph type="subTitle" idx="1"/>
          </p:nvPr>
        </p:nvSpPr>
        <p:spPr>
          <a:xfrm>
            <a:off x="1524000" y="2115403"/>
            <a:ext cx="9144000" cy="4121624"/>
          </a:xfrm>
        </p:spPr>
        <p:txBody>
          <a:bodyPr/>
          <a:lstStyle/>
          <a:p>
            <a:pPr algn="l"/>
            <a:r>
              <a:rPr lang="fr-FR" sz="2800" dirty="0"/>
              <a:t>Compétence visée </a:t>
            </a:r>
            <a:r>
              <a:rPr lang="fr-FR" sz="2800" dirty="0" smtClean="0"/>
              <a:t> : Compétence </a:t>
            </a:r>
            <a:r>
              <a:rPr lang="fr-FR" sz="2800" dirty="0"/>
              <a:t>6 : </a:t>
            </a:r>
            <a:endParaRPr lang="fr-FR" sz="2800" dirty="0" smtClean="0"/>
          </a:p>
          <a:p>
            <a:pPr algn="l"/>
            <a:endParaRPr lang="fr-FR" sz="2800" dirty="0"/>
          </a:p>
          <a:p>
            <a:pPr marL="342900" lvl="0" indent="-342900" algn="just">
              <a:buFont typeface="Arial" panose="020B0604020202020204" pitchFamily="34" charset="0"/>
              <a:buChar char="•"/>
            </a:pPr>
            <a:r>
              <a:rPr lang="fr-FR" sz="3200" dirty="0"/>
              <a:t>Travailler dans une équipe </a:t>
            </a:r>
            <a:r>
              <a:rPr lang="fr-FR" sz="3200" dirty="0" smtClean="0"/>
              <a:t>informatique.</a:t>
            </a:r>
            <a:endParaRPr lang="fr-FR" sz="3200" dirty="0"/>
          </a:p>
          <a:p>
            <a:pPr marL="342900" lvl="0" indent="-342900" algn="just">
              <a:buFont typeface="Arial" panose="020B0604020202020204" pitchFamily="34" charset="0"/>
              <a:buChar char="•"/>
            </a:pPr>
            <a:r>
              <a:rPr lang="fr-FR" sz="3200" dirty="0"/>
              <a:t>Description des objectifs de la SAÉ et de la problématique professionnelle </a:t>
            </a:r>
            <a:r>
              <a:rPr lang="fr-FR" sz="3200" dirty="0" smtClean="0"/>
              <a:t>associée.</a:t>
            </a:r>
            <a:endParaRPr lang="fr-FR" sz="3200" dirty="0"/>
          </a:p>
          <a:p>
            <a:pPr marL="342900" indent="-342900" algn="just">
              <a:buFont typeface="Arial" panose="020B0604020202020204" pitchFamily="34" charset="0"/>
              <a:buChar char="•"/>
            </a:pPr>
            <a:r>
              <a:rPr lang="fr-FR" sz="3200" dirty="0"/>
              <a:t>Il s'agit d'effectuer une présentation numérique du positionnement économique de l'entreprise.</a:t>
            </a:r>
          </a:p>
          <a:p>
            <a:endParaRPr lang="fr-FR" dirty="0"/>
          </a:p>
        </p:txBody>
      </p:sp>
    </p:spTree>
    <p:extLst>
      <p:ext uri="{BB962C8B-B14F-4D97-AF65-F5344CB8AC3E}">
        <p14:creationId xmlns:p14="http://schemas.microsoft.com/office/powerpoint/2010/main" val="3852287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14818" y="508214"/>
            <a:ext cx="9144000" cy="1238700"/>
          </a:xfrm>
        </p:spPr>
        <p:txBody>
          <a:bodyPr>
            <a:noAutofit/>
          </a:bodyPr>
          <a:lstStyle/>
          <a:p>
            <a:r>
              <a:rPr lang="fr-FR" sz="4000" dirty="0"/>
              <a:t>SAÉ S1.06 </a:t>
            </a:r>
            <a:r>
              <a:rPr lang="fr-FR" sz="3200" dirty="0"/>
              <a:t>Découverte de l'environnement économique</a:t>
            </a:r>
          </a:p>
        </p:txBody>
      </p:sp>
      <p:sp>
        <p:nvSpPr>
          <p:cNvPr id="3" name="Sous-titre 2"/>
          <p:cNvSpPr>
            <a:spLocks noGrp="1"/>
          </p:cNvSpPr>
          <p:nvPr>
            <p:ph type="subTitle" idx="1"/>
          </p:nvPr>
        </p:nvSpPr>
        <p:spPr>
          <a:xfrm>
            <a:off x="1524000" y="2115403"/>
            <a:ext cx="9144000" cy="4121624"/>
          </a:xfrm>
        </p:spPr>
        <p:txBody>
          <a:bodyPr/>
          <a:lstStyle/>
          <a:p>
            <a:r>
              <a:rPr lang="fr-FR" dirty="0"/>
              <a:t>L’objectif de cette SAE </a:t>
            </a:r>
            <a:endParaRPr lang="fr-FR" dirty="0" smtClean="0"/>
          </a:p>
          <a:p>
            <a:r>
              <a:rPr lang="fr-FR" dirty="0"/>
              <a:t>Travail N°1  Rechercher dans base Insee  les entreprise de L’AIN qui travaille dans le domaine informatique.</a:t>
            </a:r>
          </a:p>
          <a:p>
            <a:r>
              <a:rPr lang="fr-FR" dirty="0"/>
              <a:t>Utilisation du Code </a:t>
            </a:r>
            <a:r>
              <a:rPr lang="fr-FR" dirty="0" err="1"/>
              <a:t>Naf</a:t>
            </a:r>
            <a:r>
              <a:rPr lang="fr-FR" dirty="0"/>
              <a:t>  de l’Insee : </a:t>
            </a:r>
          </a:p>
          <a:p>
            <a:endParaRPr lang="fr-FR" dirty="0"/>
          </a:p>
        </p:txBody>
      </p:sp>
    </p:spTree>
    <p:extLst>
      <p:ext uri="{BB962C8B-B14F-4D97-AF65-F5344CB8AC3E}">
        <p14:creationId xmlns:p14="http://schemas.microsoft.com/office/powerpoint/2010/main" val="4244973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14818" y="508214"/>
            <a:ext cx="9144000" cy="1238700"/>
          </a:xfrm>
        </p:spPr>
        <p:txBody>
          <a:bodyPr>
            <a:noAutofit/>
          </a:bodyPr>
          <a:lstStyle/>
          <a:p>
            <a:r>
              <a:rPr lang="fr-FR" sz="4000" dirty="0"/>
              <a:t>SAÉ S1.06 </a:t>
            </a:r>
            <a:r>
              <a:rPr lang="fr-FR" sz="3200" dirty="0"/>
              <a:t>Découverte de l'environnement économique</a:t>
            </a:r>
          </a:p>
        </p:txBody>
      </p:sp>
      <p:sp>
        <p:nvSpPr>
          <p:cNvPr id="3" name="Sous-titre 2"/>
          <p:cNvSpPr>
            <a:spLocks noGrp="1"/>
          </p:cNvSpPr>
          <p:nvPr>
            <p:ph type="subTitle" idx="1"/>
          </p:nvPr>
        </p:nvSpPr>
        <p:spPr>
          <a:xfrm>
            <a:off x="1023582" y="2115403"/>
            <a:ext cx="10167582" cy="4121624"/>
          </a:xfrm>
        </p:spPr>
        <p:txBody>
          <a:bodyPr>
            <a:normAutofit fontScale="92500" lnSpcReduction="20000"/>
          </a:bodyPr>
          <a:lstStyle/>
          <a:p>
            <a:r>
              <a:rPr lang="fr-FR" b="1" dirty="0"/>
              <a:t>Division 62 : Programmation, conseil et autres activités informatiques</a:t>
            </a:r>
            <a:endParaRPr lang="fr-FR" dirty="0"/>
          </a:p>
          <a:p>
            <a:pPr algn="just">
              <a:lnSpc>
                <a:spcPct val="150000"/>
              </a:lnSpc>
            </a:pPr>
            <a:r>
              <a:rPr lang="fr-FR" sz="2800" dirty="0"/>
              <a:t>Cette division comprend les activités suivantes, destinées à fournir une expertise dans le domaine des technologies de l'information : développement, adaptation, test et maintenance de logiciels, planification et conception de systèmes informatiques intégrant les technologies du matériel, des logiciels et des communications, gestion et exploitation des installations informatiques et de traitement des données de clients et autres services professionnels et techniques de nature informatique.</a:t>
            </a:r>
          </a:p>
          <a:p>
            <a:pPr algn="just">
              <a:lnSpc>
                <a:spcPct val="150000"/>
              </a:lnSpc>
            </a:pPr>
            <a:endParaRPr lang="fr-FR" sz="2000" dirty="0"/>
          </a:p>
        </p:txBody>
      </p:sp>
    </p:spTree>
    <p:extLst>
      <p:ext uri="{BB962C8B-B14F-4D97-AF65-F5344CB8AC3E}">
        <p14:creationId xmlns:p14="http://schemas.microsoft.com/office/powerpoint/2010/main" val="1151988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14818" y="508214"/>
            <a:ext cx="9144000" cy="1238700"/>
          </a:xfrm>
        </p:spPr>
        <p:txBody>
          <a:bodyPr>
            <a:noAutofit/>
          </a:bodyPr>
          <a:lstStyle/>
          <a:p>
            <a:r>
              <a:rPr lang="fr-FR" sz="4000" dirty="0"/>
              <a:t>SAÉ S1.06 </a:t>
            </a:r>
            <a:r>
              <a:rPr lang="fr-FR" sz="3200" dirty="0"/>
              <a:t>Découverte de l'environnement économique</a:t>
            </a:r>
          </a:p>
        </p:txBody>
      </p:sp>
      <p:sp>
        <p:nvSpPr>
          <p:cNvPr id="3" name="Sous-titre 2"/>
          <p:cNvSpPr>
            <a:spLocks noGrp="1"/>
          </p:cNvSpPr>
          <p:nvPr>
            <p:ph type="subTitle" idx="1"/>
          </p:nvPr>
        </p:nvSpPr>
        <p:spPr>
          <a:xfrm>
            <a:off x="1524000" y="2115403"/>
            <a:ext cx="9144000" cy="4121624"/>
          </a:xfrm>
        </p:spPr>
        <p:txBody>
          <a:bodyPr>
            <a:normAutofit/>
          </a:bodyPr>
          <a:lstStyle/>
          <a:p>
            <a:r>
              <a:rPr lang="fr-FR" b="1" dirty="0"/>
              <a:t>Présentation de la base </a:t>
            </a:r>
            <a:r>
              <a:rPr lang="fr-FR" b="1" dirty="0" err="1"/>
              <a:t>Sirene</a:t>
            </a:r>
            <a:r>
              <a:rPr lang="fr-FR" b="1" dirty="0"/>
              <a:t>® </a:t>
            </a:r>
            <a:endParaRPr lang="fr-FR" dirty="0"/>
          </a:p>
          <a:p>
            <a:r>
              <a:rPr lang="fr-FR" b="1" dirty="0"/>
              <a:t>La base </a:t>
            </a:r>
            <a:r>
              <a:rPr lang="fr-FR" b="1" dirty="0" err="1"/>
              <a:t>Sirene</a:t>
            </a:r>
            <a:r>
              <a:rPr lang="fr-FR" b="1" dirty="0"/>
              <a:t>® reprend, pour chaque </a:t>
            </a:r>
            <a:r>
              <a:rPr lang="fr-FR" b="1" u="sng" dirty="0">
                <a:hlinkClick r:id="rId2" tooltip="Voir la définition"/>
              </a:rPr>
              <a:t>entreprise</a:t>
            </a:r>
            <a:r>
              <a:rPr lang="fr-FR" b="1" dirty="0"/>
              <a:t> et chaque </a:t>
            </a:r>
            <a:r>
              <a:rPr lang="fr-FR" b="1" u="sng" dirty="0">
                <a:hlinkClick r:id="rId3" tooltip="Voir la définition"/>
              </a:rPr>
              <a:t>établissement</a:t>
            </a:r>
            <a:r>
              <a:rPr lang="fr-FR" b="1" dirty="0"/>
              <a:t>, les informations contenues dans le répertoire </a:t>
            </a:r>
            <a:r>
              <a:rPr lang="fr-FR" b="1" dirty="0" err="1"/>
              <a:t>Sirene</a:t>
            </a:r>
            <a:r>
              <a:rPr lang="fr-FR" b="1" dirty="0"/>
              <a:t>.</a:t>
            </a:r>
            <a:endParaRPr lang="fr-FR" dirty="0"/>
          </a:p>
          <a:p>
            <a:r>
              <a:rPr lang="fr-FR" b="1" dirty="0"/>
              <a:t>La base </a:t>
            </a:r>
            <a:r>
              <a:rPr lang="fr-FR" b="1" dirty="0" err="1"/>
              <a:t>Sirene</a:t>
            </a:r>
            <a:r>
              <a:rPr lang="fr-FR" b="1" dirty="0"/>
              <a:t>® rassemble ainsi des informations économiques et juridiques sur 31 millions d'établissements, dont 12 millions actifs, appartenant à tous les secteurs d'activité.</a:t>
            </a:r>
            <a:r>
              <a:rPr lang="fr-FR" dirty="0"/>
              <a:t> </a:t>
            </a:r>
          </a:p>
          <a:p>
            <a:r>
              <a:rPr lang="fr-FR" b="1" dirty="0"/>
              <a:t>Des informations actualisées en permanence </a:t>
            </a:r>
            <a:endParaRPr lang="fr-FR" dirty="0"/>
          </a:p>
          <a:p>
            <a:r>
              <a:rPr lang="fr-FR" dirty="0" smtClean="0"/>
              <a:t>. </a:t>
            </a:r>
            <a:endParaRPr lang="fr-FR" dirty="0"/>
          </a:p>
          <a:p>
            <a:endParaRPr lang="fr-FR" dirty="0"/>
          </a:p>
        </p:txBody>
      </p:sp>
    </p:spTree>
    <p:extLst>
      <p:ext uri="{BB962C8B-B14F-4D97-AF65-F5344CB8AC3E}">
        <p14:creationId xmlns:p14="http://schemas.microsoft.com/office/powerpoint/2010/main" val="691283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14818" y="508214"/>
            <a:ext cx="9144000" cy="1238700"/>
          </a:xfrm>
        </p:spPr>
        <p:txBody>
          <a:bodyPr>
            <a:noAutofit/>
          </a:bodyPr>
          <a:lstStyle/>
          <a:p>
            <a:r>
              <a:rPr lang="fr-FR" sz="4000" dirty="0"/>
              <a:t>SAÉ S1.06 </a:t>
            </a:r>
            <a:r>
              <a:rPr lang="fr-FR" sz="3200" dirty="0"/>
              <a:t>Découverte de l'environnement économique</a:t>
            </a:r>
          </a:p>
        </p:txBody>
      </p:sp>
      <p:sp>
        <p:nvSpPr>
          <p:cNvPr id="3" name="Sous-titre 2"/>
          <p:cNvSpPr>
            <a:spLocks noGrp="1"/>
          </p:cNvSpPr>
          <p:nvPr>
            <p:ph type="subTitle" idx="1"/>
          </p:nvPr>
        </p:nvSpPr>
        <p:spPr>
          <a:xfrm>
            <a:off x="1524000" y="2115403"/>
            <a:ext cx="9144000" cy="4121624"/>
          </a:xfrm>
        </p:spPr>
        <p:txBody>
          <a:bodyPr>
            <a:normAutofit fontScale="92500" lnSpcReduction="20000"/>
          </a:bodyPr>
          <a:lstStyle/>
          <a:p>
            <a:pPr algn="l"/>
            <a:r>
              <a:rPr lang="fr-FR" dirty="0" smtClean="0"/>
              <a:t>De </a:t>
            </a:r>
            <a:r>
              <a:rPr lang="fr-FR" dirty="0"/>
              <a:t>nombreux organismes ont pour mission de déclarer à l'Insee les immatriculations, radiations et modifications au répertoire. Ils contribuent quotidiennement à l'actualisation du répertoire </a:t>
            </a:r>
            <a:r>
              <a:rPr lang="fr-FR" dirty="0" err="1"/>
              <a:t>Sirene</a:t>
            </a:r>
            <a:r>
              <a:rPr lang="fr-FR" dirty="0"/>
              <a:t>. En moyenne, 10 000 modifications sont enregistrées quotidiennement au répertoire. </a:t>
            </a:r>
          </a:p>
          <a:p>
            <a:pPr algn="l"/>
            <a:r>
              <a:rPr lang="fr-FR" b="1" dirty="0"/>
              <a:t>Une couverture géographique et économique exhaustive </a:t>
            </a:r>
            <a:endParaRPr lang="fr-FR" dirty="0"/>
          </a:p>
          <a:p>
            <a:pPr algn="l"/>
            <a:r>
              <a:rPr lang="fr-FR" dirty="0" err="1"/>
              <a:t>Sirene</a:t>
            </a:r>
            <a:r>
              <a:rPr lang="fr-FR" dirty="0"/>
              <a:t> enregistre toutes les entreprises et leurs établissements, quelle que soit leur forme juridique et quel que soit leur secteur d'activité, situés en métropole ou dans les départements d'outre-mer (Guadeloupe, Guyane, Martinique, Mayotte et Réunion) et à Saint-Pierre et Miquelon. Les entreprises étrangères qui ont une représentation ou une activité en France y sont également répertoriées. </a:t>
            </a:r>
          </a:p>
          <a:p>
            <a:pPr algn="l"/>
            <a:r>
              <a:rPr lang="fr-FR" dirty="0"/>
              <a:t>En outre, lors de la constitution de la base de diffusion, des données supplémentaires sont ajoutées pour faire de la base </a:t>
            </a:r>
            <a:r>
              <a:rPr lang="fr-FR" dirty="0" err="1"/>
              <a:t>Sirene</a:t>
            </a:r>
            <a:r>
              <a:rPr lang="fr-FR" dirty="0"/>
              <a:t>® un outil opérationnel. </a:t>
            </a:r>
          </a:p>
          <a:p>
            <a:endParaRPr lang="fr-FR" dirty="0"/>
          </a:p>
        </p:txBody>
      </p:sp>
    </p:spTree>
    <p:extLst>
      <p:ext uri="{BB962C8B-B14F-4D97-AF65-F5344CB8AC3E}">
        <p14:creationId xmlns:p14="http://schemas.microsoft.com/office/powerpoint/2010/main" val="67380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14818" y="508214"/>
            <a:ext cx="9144000" cy="1238700"/>
          </a:xfrm>
        </p:spPr>
        <p:txBody>
          <a:bodyPr>
            <a:noAutofit/>
          </a:bodyPr>
          <a:lstStyle/>
          <a:p>
            <a:r>
              <a:rPr lang="fr-FR" sz="4000" dirty="0"/>
              <a:t>SAÉ S1.06 </a:t>
            </a:r>
            <a:r>
              <a:rPr lang="fr-FR" sz="3200" dirty="0"/>
              <a:t>Découverte de l'environnement économique</a:t>
            </a:r>
          </a:p>
        </p:txBody>
      </p:sp>
      <p:sp>
        <p:nvSpPr>
          <p:cNvPr id="3" name="Sous-titre 2"/>
          <p:cNvSpPr>
            <a:spLocks noGrp="1"/>
          </p:cNvSpPr>
          <p:nvPr>
            <p:ph type="subTitle" idx="1"/>
          </p:nvPr>
        </p:nvSpPr>
        <p:spPr>
          <a:xfrm>
            <a:off x="1524000" y="2115403"/>
            <a:ext cx="9144000" cy="4121624"/>
          </a:xfrm>
        </p:spPr>
        <p:txBody>
          <a:bodyPr/>
          <a:lstStyle/>
          <a:p>
            <a:r>
              <a:rPr lang="fr-FR" dirty="0"/>
              <a:t>Méthode .</a:t>
            </a:r>
          </a:p>
          <a:p>
            <a:r>
              <a:rPr lang="fr-FR" dirty="0"/>
              <a:t>Il faut constituer un fichier</a:t>
            </a:r>
            <a:r>
              <a:rPr lang="fr-FR" b="1" dirty="0"/>
              <a:t> des entreprises de </a:t>
            </a:r>
            <a:r>
              <a:rPr lang="fr-FR" b="1" dirty="0" smtClean="0"/>
              <a:t>l'Ain</a:t>
            </a:r>
            <a:r>
              <a:rPr lang="fr-FR" dirty="0" smtClean="0"/>
              <a:t> </a:t>
            </a:r>
            <a:r>
              <a:rPr lang="fr-FR" b="1" dirty="0"/>
              <a:t>du Jura et de la </a:t>
            </a:r>
            <a:r>
              <a:rPr lang="fr-FR" b="1" dirty="0" smtClean="0"/>
              <a:t>Saône</a:t>
            </a:r>
            <a:endParaRPr lang="fr-FR" b="1" dirty="0"/>
          </a:p>
          <a:p>
            <a:r>
              <a:rPr lang="fr-FR" dirty="0" smtClean="0"/>
              <a:t>Il </a:t>
            </a:r>
            <a:r>
              <a:rPr lang="fr-FR" dirty="0"/>
              <a:t>faut prendre uniquement les entreprises en activité</a:t>
            </a:r>
          </a:p>
          <a:p>
            <a:r>
              <a:rPr lang="fr-FR" dirty="0"/>
              <a:t>Il faut sélectionner toute les formes juridiques</a:t>
            </a:r>
          </a:p>
          <a:p>
            <a:r>
              <a:rPr lang="fr-FR" dirty="0"/>
              <a:t>Pour connaître </a:t>
            </a:r>
            <a:r>
              <a:rPr lang="fr-FR" b="1" dirty="0"/>
              <a:t>le nombre d’</a:t>
            </a:r>
            <a:r>
              <a:rPr lang="fr-FR" b="1" dirty="0" err="1"/>
              <a:t>auto-entrepreneurs</a:t>
            </a:r>
            <a:r>
              <a:rPr lang="fr-FR" dirty="0"/>
              <a:t> </a:t>
            </a:r>
            <a:r>
              <a:rPr lang="fr-FR" dirty="0" smtClean="0"/>
              <a:t>vous </a:t>
            </a:r>
            <a:r>
              <a:rPr lang="fr-FR" dirty="0" err="1" smtClean="0"/>
              <a:t>trirez</a:t>
            </a:r>
            <a:r>
              <a:rPr lang="fr-FR" dirty="0" smtClean="0"/>
              <a:t> les entreprises par effectif.</a:t>
            </a:r>
          </a:p>
          <a:p>
            <a:r>
              <a:rPr lang="fr-FR" dirty="0" smtClean="0"/>
              <a:t>Attention la liste est en format </a:t>
            </a:r>
            <a:r>
              <a:rPr lang="fr-FR" dirty="0" smtClean="0"/>
              <a:t>csv </a:t>
            </a:r>
            <a:r>
              <a:rPr lang="fr-FR" dirty="0" smtClean="0"/>
              <a:t>il faut donc la transformer en fichier Excel (Donnée Convertir)</a:t>
            </a:r>
            <a:endParaRPr lang="fr-FR" dirty="0"/>
          </a:p>
          <a:p>
            <a:endParaRPr lang="fr-FR" dirty="0"/>
          </a:p>
        </p:txBody>
      </p:sp>
    </p:spTree>
    <p:extLst>
      <p:ext uri="{BB962C8B-B14F-4D97-AF65-F5344CB8AC3E}">
        <p14:creationId xmlns:p14="http://schemas.microsoft.com/office/powerpoint/2010/main" val="743877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p:nvPr/>
        </p:nvPicPr>
        <p:blipFill rotWithShape="1">
          <a:blip r:embed="rId2"/>
          <a:srcRect r="40697"/>
          <a:stretch/>
        </p:blipFill>
        <p:spPr bwMode="auto">
          <a:xfrm>
            <a:off x="2183642" y="354843"/>
            <a:ext cx="7983939" cy="666010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94229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14818" y="508214"/>
            <a:ext cx="9144000" cy="1238700"/>
          </a:xfrm>
        </p:spPr>
        <p:txBody>
          <a:bodyPr>
            <a:noAutofit/>
          </a:bodyPr>
          <a:lstStyle/>
          <a:p>
            <a:r>
              <a:rPr lang="fr-FR" sz="4000" dirty="0"/>
              <a:t>SAÉ S1.06 </a:t>
            </a:r>
            <a:r>
              <a:rPr lang="fr-FR" sz="3200" dirty="0"/>
              <a:t>Découverte de l'environnement économique</a:t>
            </a:r>
          </a:p>
        </p:txBody>
      </p:sp>
      <p:sp>
        <p:nvSpPr>
          <p:cNvPr id="3" name="Sous-titre 2"/>
          <p:cNvSpPr>
            <a:spLocks noGrp="1"/>
          </p:cNvSpPr>
          <p:nvPr>
            <p:ph type="subTitle" idx="1"/>
          </p:nvPr>
        </p:nvSpPr>
        <p:spPr>
          <a:xfrm>
            <a:off x="1524000" y="2115403"/>
            <a:ext cx="9144000" cy="4121624"/>
          </a:xfrm>
        </p:spPr>
        <p:txBody>
          <a:bodyPr/>
          <a:lstStyle/>
          <a:p>
            <a:r>
              <a:rPr lang="fr-FR" dirty="0"/>
              <a:t>Travail n°2 </a:t>
            </a:r>
            <a:r>
              <a:rPr lang="fr-FR" dirty="0" smtClean="0"/>
              <a:t>: Trouver </a:t>
            </a:r>
            <a:r>
              <a:rPr lang="fr-FR" dirty="0"/>
              <a:t>des renseignements sur les entreprises </a:t>
            </a:r>
            <a:endParaRPr lang="fr-FR" dirty="0" smtClean="0"/>
          </a:p>
          <a:p>
            <a:r>
              <a:rPr lang="fr-FR" dirty="0" smtClean="0"/>
              <a:t>que </a:t>
            </a:r>
            <a:r>
              <a:rPr lang="fr-FR" dirty="0"/>
              <a:t>je vous attribuerai</a:t>
            </a:r>
            <a:r>
              <a:rPr lang="fr-FR" dirty="0" smtClean="0"/>
              <a:t>.</a:t>
            </a:r>
          </a:p>
          <a:p>
            <a:endParaRPr lang="fr-FR" dirty="0"/>
          </a:p>
          <a:p>
            <a:pPr marL="342900" indent="-342900" algn="l">
              <a:buFont typeface="Arial" panose="020B0604020202020204" pitchFamily="34" charset="0"/>
              <a:buChar char="•"/>
            </a:pPr>
            <a:r>
              <a:rPr lang="fr-FR" dirty="0"/>
              <a:t>En consultant le web ;Site </a:t>
            </a:r>
            <a:r>
              <a:rPr lang="fr-FR" dirty="0" smtClean="0"/>
              <a:t>Presse, </a:t>
            </a:r>
            <a:r>
              <a:rPr lang="fr-FR" dirty="0"/>
              <a:t>Réseau sociaux.</a:t>
            </a:r>
          </a:p>
          <a:p>
            <a:pPr marL="342900" indent="-342900" algn="l">
              <a:buFont typeface="Arial" panose="020B0604020202020204" pitchFamily="34" charset="0"/>
              <a:buChar char="•"/>
            </a:pPr>
            <a:r>
              <a:rPr lang="fr-FR" dirty="0"/>
              <a:t>En contactant </a:t>
            </a:r>
            <a:r>
              <a:rPr lang="fr-FR" dirty="0" smtClean="0"/>
              <a:t>l’entreprise,  </a:t>
            </a:r>
            <a:r>
              <a:rPr lang="fr-FR" b="1" dirty="0"/>
              <a:t>attention prévoir un guide </a:t>
            </a:r>
            <a:r>
              <a:rPr lang="fr-FR" b="1" dirty="0" smtClean="0"/>
              <a:t>d’entretien,</a:t>
            </a:r>
            <a:endParaRPr lang="fr-FR" b="1" dirty="0"/>
          </a:p>
          <a:p>
            <a:pPr marL="342900" indent="-342900" algn="l">
              <a:buFont typeface="Arial" panose="020B0604020202020204" pitchFamily="34" charset="0"/>
              <a:buChar char="•"/>
            </a:pPr>
            <a:r>
              <a:rPr lang="fr-FR" dirty="0"/>
              <a:t>En remplaçant le code colonne AG par le libellé activité </a:t>
            </a:r>
            <a:r>
              <a:rPr lang="fr-FR" dirty="0" smtClean="0"/>
              <a:t>principale dans la liste des entreprises </a:t>
            </a:r>
            <a:r>
              <a:rPr lang="fr-FR" dirty="0" smtClean="0"/>
              <a:t>sélectionnées,</a:t>
            </a:r>
            <a:endParaRPr lang="fr-FR" dirty="0"/>
          </a:p>
          <a:p>
            <a:endParaRPr lang="fr-FR" dirty="0"/>
          </a:p>
        </p:txBody>
      </p:sp>
    </p:spTree>
    <p:extLst>
      <p:ext uri="{BB962C8B-B14F-4D97-AF65-F5344CB8AC3E}">
        <p14:creationId xmlns:p14="http://schemas.microsoft.com/office/powerpoint/2010/main" val="481912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14818" y="508214"/>
            <a:ext cx="9144000" cy="1238700"/>
          </a:xfrm>
        </p:spPr>
        <p:txBody>
          <a:bodyPr>
            <a:noAutofit/>
          </a:bodyPr>
          <a:lstStyle/>
          <a:p>
            <a:r>
              <a:rPr lang="fr-FR" sz="4000" dirty="0"/>
              <a:t>SAÉ S1.06 </a:t>
            </a:r>
            <a:r>
              <a:rPr lang="fr-FR" sz="3200" dirty="0"/>
              <a:t>Découverte de l'environnement économique</a:t>
            </a:r>
          </a:p>
        </p:txBody>
      </p:sp>
      <p:sp>
        <p:nvSpPr>
          <p:cNvPr id="3" name="Sous-titre 2"/>
          <p:cNvSpPr>
            <a:spLocks noGrp="1"/>
          </p:cNvSpPr>
          <p:nvPr>
            <p:ph type="subTitle" idx="1"/>
          </p:nvPr>
        </p:nvSpPr>
        <p:spPr>
          <a:xfrm>
            <a:off x="1524000" y="2115403"/>
            <a:ext cx="9144000" cy="4121624"/>
          </a:xfrm>
        </p:spPr>
        <p:txBody>
          <a:bodyPr/>
          <a:lstStyle/>
          <a:p>
            <a:pPr algn="l"/>
            <a:r>
              <a:rPr lang="fr-FR" dirty="0"/>
              <a:t>Travail </a:t>
            </a:r>
            <a:r>
              <a:rPr lang="fr-FR" dirty="0" smtClean="0"/>
              <a:t>n°3 :</a:t>
            </a:r>
            <a:endParaRPr lang="fr-FR" dirty="0"/>
          </a:p>
          <a:p>
            <a:pPr algn="l"/>
            <a:r>
              <a:rPr lang="fr-FR" dirty="0"/>
              <a:t>Saisir sur </a:t>
            </a:r>
            <a:r>
              <a:rPr lang="fr-FR" dirty="0" err="1" smtClean="0"/>
              <a:t>Forms</a:t>
            </a:r>
            <a:r>
              <a:rPr lang="fr-FR" dirty="0" smtClean="0"/>
              <a:t>, </a:t>
            </a:r>
            <a:r>
              <a:rPr lang="fr-FR" dirty="0"/>
              <a:t>les données trouvées pour construire une </a:t>
            </a:r>
            <a:r>
              <a:rPr lang="fr-FR" b="1" dirty="0"/>
              <a:t>base qualifiée. </a:t>
            </a:r>
            <a:endParaRPr lang="fr-FR" dirty="0" smtClean="0"/>
          </a:p>
          <a:p>
            <a:pPr algn="l"/>
            <a:r>
              <a:rPr lang="fr-FR" dirty="0" smtClean="0"/>
              <a:t>Cette </a:t>
            </a:r>
            <a:r>
              <a:rPr lang="fr-FR" dirty="0"/>
              <a:t>base sera celle que l’on </a:t>
            </a:r>
            <a:r>
              <a:rPr lang="fr-FR" dirty="0" smtClean="0"/>
              <a:t>pourrait </a:t>
            </a:r>
            <a:r>
              <a:rPr lang="fr-FR" dirty="0"/>
              <a:t>utiliser pour créer un site pour trouver une entreprise informatique</a:t>
            </a:r>
            <a:r>
              <a:rPr lang="fr-FR" dirty="0" smtClean="0"/>
              <a:t>.</a:t>
            </a:r>
          </a:p>
          <a:p>
            <a:pPr algn="l"/>
            <a:r>
              <a:rPr lang="fr-FR" dirty="0" smtClean="0"/>
              <a:t>Je vais vous envoyer l’adresse pour le </a:t>
            </a:r>
            <a:r>
              <a:rPr lang="fr-FR" dirty="0" err="1" smtClean="0"/>
              <a:t>Forms</a:t>
            </a:r>
            <a:r>
              <a:rPr lang="fr-FR" dirty="0"/>
              <a:t>.</a:t>
            </a:r>
          </a:p>
          <a:p>
            <a:endParaRPr lang="fr-FR" dirty="0"/>
          </a:p>
        </p:txBody>
      </p:sp>
    </p:spTree>
    <p:extLst>
      <p:ext uri="{BB962C8B-B14F-4D97-AF65-F5344CB8AC3E}">
        <p14:creationId xmlns:p14="http://schemas.microsoft.com/office/powerpoint/2010/main" val="2207495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14818" y="508214"/>
            <a:ext cx="9144000" cy="1238700"/>
          </a:xfrm>
        </p:spPr>
        <p:txBody>
          <a:bodyPr>
            <a:noAutofit/>
          </a:bodyPr>
          <a:lstStyle/>
          <a:p>
            <a:r>
              <a:rPr lang="fr-FR" sz="4000" dirty="0"/>
              <a:t>SAÉ S1.06 </a:t>
            </a:r>
            <a:r>
              <a:rPr lang="fr-FR" sz="3200" dirty="0"/>
              <a:t>Découverte de l'environnement économique</a:t>
            </a:r>
          </a:p>
        </p:txBody>
      </p:sp>
      <p:sp>
        <p:nvSpPr>
          <p:cNvPr id="3" name="Sous-titre 2"/>
          <p:cNvSpPr>
            <a:spLocks noGrp="1"/>
          </p:cNvSpPr>
          <p:nvPr>
            <p:ph type="subTitle" idx="1"/>
          </p:nvPr>
        </p:nvSpPr>
        <p:spPr>
          <a:xfrm>
            <a:off x="1524000" y="2115403"/>
            <a:ext cx="9144000" cy="4121624"/>
          </a:xfrm>
        </p:spPr>
        <p:txBody>
          <a:bodyPr/>
          <a:lstStyle/>
          <a:p>
            <a:r>
              <a:rPr lang="fr-FR" dirty="0"/>
              <a:t>Travail N°4</a:t>
            </a:r>
          </a:p>
          <a:p>
            <a:r>
              <a:rPr lang="fr-FR" dirty="0"/>
              <a:t>Dans l’hypothèse de la création de ce site il faut réfléchir qu’elle sont les </a:t>
            </a:r>
            <a:r>
              <a:rPr lang="fr-FR" b="1" dirty="0"/>
              <a:t>différents utilisateurs </a:t>
            </a:r>
            <a:r>
              <a:rPr lang="fr-FR" dirty="0"/>
              <a:t>et quelles infos les intéressent</a:t>
            </a:r>
            <a:r>
              <a:rPr lang="fr-FR" dirty="0" smtClean="0"/>
              <a:t>.</a:t>
            </a:r>
          </a:p>
          <a:p>
            <a:pPr marL="342900" indent="-342900" algn="l">
              <a:buFont typeface="Arial" panose="020B0604020202020204" pitchFamily="34" charset="0"/>
              <a:buChar char="•"/>
            </a:pPr>
            <a:r>
              <a:rPr lang="fr-FR" dirty="0" smtClean="0"/>
              <a:t>Il faut créer un </a:t>
            </a:r>
            <a:r>
              <a:rPr lang="fr-FR" b="1" dirty="0" smtClean="0"/>
              <a:t>dictionnaire des données</a:t>
            </a:r>
          </a:p>
          <a:p>
            <a:pPr algn="l"/>
            <a:r>
              <a:rPr lang="fr-FR" dirty="0"/>
              <a:t>Les résultats de cette réflexion doit s’exprimer </a:t>
            </a:r>
            <a:r>
              <a:rPr lang="fr-FR" dirty="0" smtClean="0"/>
              <a:t>:</a:t>
            </a:r>
          </a:p>
          <a:p>
            <a:pPr marL="342900" indent="-342900" algn="l">
              <a:buFont typeface="Arial" panose="020B0604020202020204" pitchFamily="34" charset="0"/>
              <a:buChar char="•"/>
            </a:pPr>
            <a:r>
              <a:rPr lang="fr-FR" dirty="0" smtClean="0"/>
              <a:t>dans </a:t>
            </a:r>
            <a:r>
              <a:rPr lang="fr-FR" dirty="0"/>
              <a:t>un </a:t>
            </a:r>
            <a:r>
              <a:rPr lang="fr-FR" b="1" dirty="0"/>
              <a:t>cahier des charges </a:t>
            </a:r>
            <a:r>
              <a:rPr lang="fr-FR" dirty="0"/>
              <a:t>sur les données nécessaires à chaque type </a:t>
            </a:r>
            <a:r>
              <a:rPr lang="fr-FR" dirty="0" smtClean="0"/>
              <a:t>d’utilisateur. </a:t>
            </a:r>
          </a:p>
          <a:p>
            <a:pPr marL="342900" indent="-342900" algn="l">
              <a:buFont typeface="Arial" panose="020B0604020202020204" pitchFamily="34" charset="0"/>
              <a:buChar char="•"/>
            </a:pPr>
            <a:r>
              <a:rPr lang="fr-FR" dirty="0" smtClean="0"/>
              <a:t>ainsi </a:t>
            </a:r>
            <a:r>
              <a:rPr lang="fr-FR" dirty="0"/>
              <a:t>que </a:t>
            </a:r>
            <a:r>
              <a:rPr lang="fr-FR" b="1" dirty="0"/>
              <a:t>d’une maquette des différentes pages </a:t>
            </a:r>
            <a:r>
              <a:rPr lang="fr-FR" dirty="0"/>
              <a:t>du site et des différentes fonctions </a:t>
            </a:r>
            <a:r>
              <a:rPr lang="fr-FR" dirty="0" smtClean="0"/>
              <a:t>proposées.</a:t>
            </a:r>
            <a:endParaRPr lang="fr-FR" dirty="0"/>
          </a:p>
          <a:p>
            <a:endParaRPr lang="fr-FR" dirty="0"/>
          </a:p>
        </p:txBody>
      </p:sp>
    </p:spTree>
    <p:extLst>
      <p:ext uri="{BB962C8B-B14F-4D97-AF65-F5344CB8AC3E}">
        <p14:creationId xmlns:p14="http://schemas.microsoft.com/office/powerpoint/2010/main" val="1831043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740661"/>
          </a:xfrm>
        </p:spPr>
        <p:txBody>
          <a:bodyPr>
            <a:normAutofit/>
          </a:bodyPr>
          <a:lstStyle/>
          <a:p>
            <a:r>
              <a:rPr lang="fr-FR" dirty="0" smtClean="0"/>
              <a:t>SAÉ S1.06 </a:t>
            </a:r>
            <a:r>
              <a:rPr lang="fr-FR" sz="3200" dirty="0"/>
              <a:t>Découverte de l'environnement économique</a:t>
            </a:r>
          </a:p>
        </p:txBody>
      </p:sp>
      <p:sp>
        <p:nvSpPr>
          <p:cNvPr id="3" name="Espace réservé du contenu 2"/>
          <p:cNvSpPr>
            <a:spLocks noGrp="1"/>
          </p:cNvSpPr>
          <p:nvPr>
            <p:ph idx="1"/>
          </p:nvPr>
        </p:nvSpPr>
        <p:spPr>
          <a:xfrm>
            <a:off x="763772" y="1304629"/>
            <a:ext cx="10515600" cy="4957947"/>
          </a:xfrm>
        </p:spPr>
        <p:txBody>
          <a:bodyPr/>
          <a:lstStyle/>
          <a:p>
            <a:pPr marL="0" indent="0">
              <a:buNone/>
            </a:pPr>
            <a:r>
              <a:rPr lang="fr-FR" dirty="0"/>
              <a:t>Travail N° 5</a:t>
            </a:r>
          </a:p>
          <a:p>
            <a:r>
              <a:rPr lang="fr-FR" dirty="0"/>
              <a:t>Réalisation dans un PowerPoint d’une description des entreprises de ces bassins d’activités</a:t>
            </a:r>
            <a:r>
              <a:rPr lang="fr-FR" dirty="0" smtClean="0"/>
              <a:t>.</a:t>
            </a:r>
          </a:p>
          <a:p>
            <a:r>
              <a:rPr lang="fr-FR" dirty="0" smtClean="0"/>
              <a:t>Taille des entreprises (nb et %).</a:t>
            </a:r>
          </a:p>
          <a:p>
            <a:r>
              <a:rPr lang="fr-FR" dirty="0" smtClean="0"/>
              <a:t>Activités proposés (nb et %).</a:t>
            </a:r>
          </a:p>
          <a:p>
            <a:r>
              <a:rPr lang="fr-FR" dirty="0" smtClean="0"/>
              <a:t>Formes juridiques(nb et %) Utilisation des « codes activités principales ».</a:t>
            </a:r>
          </a:p>
          <a:p>
            <a:r>
              <a:rPr lang="fr-FR" dirty="0" smtClean="0"/>
              <a:t>Entreprises qui prennent des stagiaires ou alternants(nb et %) </a:t>
            </a:r>
            <a:endParaRPr lang="fr-FR" dirty="0"/>
          </a:p>
          <a:p>
            <a:r>
              <a:rPr lang="fr-FR" dirty="0" smtClean="0"/>
              <a:t>Faire un travail identique pour l’ensemble des départements concernés,</a:t>
            </a:r>
            <a:endParaRPr lang="fr-FR" dirty="0"/>
          </a:p>
        </p:txBody>
      </p:sp>
    </p:spTree>
    <p:extLst>
      <p:ext uri="{BB962C8B-B14F-4D97-AF65-F5344CB8AC3E}">
        <p14:creationId xmlns:p14="http://schemas.microsoft.com/office/powerpoint/2010/main" val="4172388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14818" y="508214"/>
            <a:ext cx="9144000" cy="1238700"/>
          </a:xfrm>
        </p:spPr>
        <p:txBody>
          <a:bodyPr>
            <a:noAutofit/>
          </a:bodyPr>
          <a:lstStyle/>
          <a:p>
            <a:r>
              <a:rPr lang="fr-FR" sz="4000" dirty="0"/>
              <a:t>SAÉ S1.06 </a:t>
            </a:r>
            <a:r>
              <a:rPr lang="fr-FR" sz="3200" dirty="0"/>
              <a:t>Découverte de l'environnement économique</a:t>
            </a:r>
          </a:p>
        </p:txBody>
      </p:sp>
      <p:sp>
        <p:nvSpPr>
          <p:cNvPr id="3" name="Sous-titre 2"/>
          <p:cNvSpPr>
            <a:spLocks noGrp="1"/>
          </p:cNvSpPr>
          <p:nvPr>
            <p:ph type="subTitle" idx="1"/>
          </p:nvPr>
        </p:nvSpPr>
        <p:spPr>
          <a:xfrm>
            <a:off x="1524000" y="2115403"/>
            <a:ext cx="9144000" cy="4121624"/>
          </a:xfrm>
        </p:spPr>
        <p:txBody>
          <a:bodyPr>
            <a:normAutofit fontScale="92500" lnSpcReduction="10000"/>
          </a:bodyPr>
          <a:lstStyle/>
          <a:p>
            <a:r>
              <a:rPr lang="fr-FR" dirty="0"/>
              <a:t>Travail N°6 </a:t>
            </a:r>
          </a:p>
          <a:p>
            <a:pPr>
              <a:lnSpc>
                <a:spcPct val="150000"/>
              </a:lnSpc>
            </a:pPr>
            <a:r>
              <a:rPr lang="fr-FR" dirty="0"/>
              <a:t>L’ensemble des travaux du SAE sera compilé dans un rapport avec une analyse du marché du numérique dans </a:t>
            </a:r>
            <a:r>
              <a:rPr lang="fr-FR" dirty="0" smtClean="0"/>
              <a:t>le bassin </a:t>
            </a:r>
            <a:r>
              <a:rPr lang="fr-FR" dirty="0"/>
              <a:t>de BOURG en </a:t>
            </a:r>
            <a:r>
              <a:rPr lang="fr-FR" dirty="0" smtClean="0"/>
              <a:t>BRESSE,</a:t>
            </a:r>
          </a:p>
          <a:p>
            <a:pPr algn="just">
              <a:lnSpc>
                <a:spcPct val="150000"/>
              </a:lnSpc>
            </a:pPr>
            <a:r>
              <a:rPr lang="fr-FR" dirty="0" smtClean="0"/>
              <a:t>Ce rapport devra contenir  l’ensemble des résultats obtenus ainsi que votre démarche, il correspond aux informations qui seront enregistrés dans le porte-folio </a:t>
            </a:r>
          </a:p>
          <a:p>
            <a:pPr algn="just">
              <a:lnSpc>
                <a:spcPct val="150000"/>
              </a:lnSpc>
            </a:pPr>
            <a:r>
              <a:rPr lang="fr-FR"/>
              <a:t>L</a:t>
            </a:r>
            <a:r>
              <a:rPr lang="fr-FR" smtClean="0"/>
              <a:t>e </a:t>
            </a:r>
            <a:r>
              <a:rPr lang="fr-FR" dirty="0" smtClean="0"/>
              <a:t>SAE étant une épreuve diplômante ce dossier sera archiver jusqu’ l’obtention du BUT, une copie numérique devra être déposé sur </a:t>
            </a:r>
            <a:r>
              <a:rPr lang="fr-FR" dirty="0" err="1" smtClean="0"/>
              <a:t>Claroline</a:t>
            </a:r>
            <a:r>
              <a:rPr lang="fr-FR" dirty="0"/>
              <a:t>.</a:t>
            </a:r>
            <a:r>
              <a:rPr lang="fr-FR" dirty="0" smtClean="0"/>
              <a:t> </a:t>
            </a:r>
            <a:endParaRPr lang="fr-FR" dirty="0"/>
          </a:p>
        </p:txBody>
      </p:sp>
    </p:spTree>
    <p:extLst>
      <p:ext uri="{BB962C8B-B14F-4D97-AF65-F5344CB8AC3E}">
        <p14:creationId xmlns:p14="http://schemas.microsoft.com/office/powerpoint/2010/main" val="1698724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14818" y="508214"/>
            <a:ext cx="9144000" cy="1238700"/>
          </a:xfrm>
        </p:spPr>
        <p:txBody>
          <a:bodyPr>
            <a:noAutofit/>
          </a:bodyPr>
          <a:lstStyle/>
          <a:p>
            <a:r>
              <a:rPr lang="fr-FR" sz="4000" dirty="0"/>
              <a:t>SAÉ S1.06 </a:t>
            </a:r>
            <a:r>
              <a:rPr lang="fr-FR" sz="3200" dirty="0"/>
              <a:t>Découverte de l'environnement économique</a:t>
            </a:r>
          </a:p>
        </p:txBody>
      </p:sp>
      <p:sp>
        <p:nvSpPr>
          <p:cNvPr id="3" name="Sous-titre 2"/>
          <p:cNvSpPr>
            <a:spLocks noGrp="1"/>
          </p:cNvSpPr>
          <p:nvPr>
            <p:ph type="subTitle" idx="1"/>
          </p:nvPr>
        </p:nvSpPr>
        <p:spPr>
          <a:xfrm>
            <a:off x="1524000" y="2115403"/>
            <a:ext cx="9144000" cy="4121624"/>
          </a:xfrm>
        </p:spPr>
        <p:txBody>
          <a:bodyPr/>
          <a:lstStyle/>
          <a:p>
            <a:endParaRPr lang="fr-FR" dirty="0"/>
          </a:p>
        </p:txBody>
      </p:sp>
    </p:spTree>
    <p:extLst>
      <p:ext uri="{BB962C8B-B14F-4D97-AF65-F5344CB8AC3E}">
        <p14:creationId xmlns:p14="http://schemas.microsoft.com/office/powerpoint/2010/main" val="3590226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14818" y="508214"/>
            <a:ext cx="9144000" cy="1238700"/>
          </a:xfrm>
        </p:spPr>
        <p:txBody>
          <a:bodyPr>
            <a:noAutofit/>
          </a:bodyPr>
          <a:lstStyle/>
          <a:p>
            <a:r>
              <a:rPr lang="fr-FR" sz="4000" dirty="0"/>
              <a:t>SAÉ S1.06 </a:t>
            </a:r>
            <a:r>
              <a:rPr lang="fr-FR" sz="3200" dirty="0"/>
              <a:t>Découverte de l'environnement économique</a:t>
            </a:r>
          </a:p>
        </p:txBody>
      </p:sp>
      <p:sp>
        <p:nvSpPr>
          <p:cNvPr id="3" name="Sous-titre 2"/>
          <p:cNvSpPr>
            <a:spLocks noGrp="1"/>
          </p:cNvSpPr>
          <p:nvPr>
            <p:ph type="subTitle" idx="1"/>
          </p:nvPr>
        </p:nvSpPr>
        <p:spPr>
          <a:xfrm>
            <a:off x="1524000" y="2115403"/>
            <a:ext cx="9144000" cy="4121624"/>
          </a:xfrm>
        </p:spPr>
        <p:txBody>
          <a:bodyPr/>
          <a:lstStyle/>
          <a:p>
            <a:endParaRPr lang="fr-FR" dirty="0"/>
          </a:p>
        </p:txBody>
      </p:sp>
    </p:spTree>
    <p:extLst>
      <p:ext uri="{BB962C8B-B14F-4D97-AF65-F5344CB8AC3E}">
        <p14:creationId xmlns:p14="http://schemas.microsoft.com/office/powerpoint/2010/main" val="3976422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14818" y="508214"/>
            <a:ext cx="9144000" cy="1238700"/>
          </a:xfrm>
        </p:spPr>
        <p:txBody>
          <a:bodyPr>
            <a:noAutofit/>
          </a:bodyPr>
          <a:lstStyle/>
          <a:p>
            <a:r>
              <a:rPr lang="fr-FR" sz="4000" dirty="0"/>
              <a:t>SAÉ S1.06 </a:t>
            </a:r>
            <a:r>
              <a:rPr lang="fr-FR" sz="3200" dirty="0"/>
              <a:t>Découverte de l'environnement économique</a:t>
            </a:r>
          </a:p>
        </p:txBody>
      </p:sp>
      <p:sp>
        <p:nvSpPr>
          <p:cNvPr id="3" name="Sous-titre 2"/>
          <p:cNvSpPr>
            <a:spLocks noGrp="1"/>
          </p:cNvSpPr>
          <p:nvPr>
            <p:ph type="subTitle" idx="1"/>
          </p:nvPr>
        </p:nvSpPr>
        <p:spPr>
          <a:xfrm>
            <a:off x="1524000" y="2115403"/>
            <a:ext cx="9144000" cy="4121624"/>
          </a:xfrm>
        </p:spPr>
        <p:txBody>
          <a:bodyPr/>
          <a:lstStyle/>
          <a:p>
            <a:endParaRPr lang="fr-FR" dirty="0"/>
          </a:p>
        </p:txBody>
      </p:sp>
    </p:spTree>
    <p:extLst>
      <p:ext uri="{BB962C8B-B14F-4D97-AF65-F5344CB8AC3E}">
        <p14:creationId xmlns:p14="http://schemas.microsoft.com/office/powerpoint/2010/main" val="289605211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799</Words>
  <Application>Microsoft Office PowerPoint</Application>
  <PresentationFormat>Grand écran</PresentationFormat>
  <Paragraphs>66</Paragraphs>
  <Slides>15</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Arial</vt:lpstr>
      <vt:lpstr>Calibri</vt:lpstr>
      <vt:lpstr>Calibri Light</vt:lpstr>
      <vt:lpstr>Thème Office</vt:lpstr>
      <vt:lpstr>SAÉ S1.06 Découverte de l'environnement économique</vt:lpstr>
      <vt:lpstr>SAÉ S1.06 Découverte de l'environnement économique</vt:lpstr>
      <vt:lpstr>SAÉ S1.06 Découverte de l'environnement économique</vt:lpstr>
      <vt:lpstr>SAÉ S1.06 Découverte de l'environnement économique</vt:lpstr>
      <vt:lpstr>SAÉ S1.06 Découverte de l'environnement économique</vt:lpstr>
      <vt:lpstr>SAÉ S1.06 Découverte de l'environnement économique</vt:lpstr>
      <vt:lpstr>Présentation PowerPoint</vt:lpstr>
      <vt:lpstr>SAÉ S1.06 Découverte de l'environnement économique</vt:lpstr>
      <vt:lpstr>SAÉ S1.06 Découverte de l'environnement économique</vt:lpstr>
      <vt:lpstr>SAÉ S1.06 Découverte de l'environnement économique</vt:lpstr>
      <vt:lpstr>SAÉ S1.06 Découverte de l'environnement économique</vt:lpstr>
      <vt:lpstr>SAÉ S1.06 Découverte de l'environnement économique</vt:lpstr>
      <vt:lpstr>SAÉ S1.06 Découverte de l'environnement économique</vt:lpstr>
      <vt:lpstr>SAÉ S1.06 Découverte de l'environnement économique</vt:lpstr>
      <vt:lpstr>SAÉ S1.06 Découverte de l'environnement économique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SAÉ S1.06 Découverte de l'environnement économique</dc:title>
  <dc:creator>VALETTE FRANCK</dc:creator>
  <cp:lastModifiedBy>VALETTE FRANCK</cp:lastModifiedBy>
  <cp:revision>7</cp:revision>
  <dcterms:created xsi:type="dcterms:W3CDTF">2021-11-08T08:10:32Z</dcterms:created>
  <dcterms:modified xsi:type="dcterms:W3CDTF">2021-11-08T11:13:01Z</dcterms:modified>
</cp:coreProperties>
</file>